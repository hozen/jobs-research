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腾讯AI战略研究 — C Job Day 1 成果汇报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AF37"/>
                </a:solidFill>
              </a:rPr>
              <a:t>数据核实 · 观点验证 · 置信度建立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737360"/>
            <a:ext cx="5303520" cy="457200"/>
          </a:xfrm>
          <a:prstGeom prst="rect">
            <a:avLst/>
          </a:prstGeom>
          <a:solidFill>
            <a:srgbClr val="00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📊 Q1 2026 财务数据（已确认）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2286000"/>
          <a:ext cx="5303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同比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收入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1,965亿元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毛利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1,113亿元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自由现金流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567亿元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资本开支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319亿元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+16%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微信MAU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14.32亿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50292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5F5F5"/>
                </a:solidFill>
              </a:rPr>
              <a:t>数据来源：腾讯官方财报（2026-05-13发布）
2025全年收入：7,518亿元 | IFRS经营利润：2,807亿元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737360"/>
            <a:ext cx="5943600" cy="457200"/>
          </a:xfrm>
          <a:prstGeom prst="rect">
            <a:avLst/>
          </a:prstGeom>
          <a:solidFill>
            <a:srgbClr val="00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783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🔍 Day 1 核心发现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33172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237743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317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Hy3参数已官方确认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9463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295B总参 / 21B激活 / 256K上下文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88036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92607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微信MAU已核实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1810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14.32亿（官方财报 + 199it交叉验证）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342900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3474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290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财务数据已确认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6674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Q1 1965亿 / 毛利1113亿 / FCF 567亿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0233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组织架构核实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15383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李录尚未完成Task 1财务核实报告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89320" y="457199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52627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产品方向分析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764023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乔布斯初稿延至今日22:00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760720"/>
            <a:ext cx="11640312" cy="822960"/>
          </a:xfrm>
          <a:prstGeom prst="rect">
            <a:avLst/>
          </a:prstGeom>
          <a:solidFill>
            <a:srgbClr val="15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4AF37"/>
                </a:solidFill>
              </a:rPr>
              <a:t>Agent任务状态： 李录(财务核实) ⚠️进行中 | 乔布斯(Hy3+产品预测) 🔄进行中 | Hermes姐姐(微信MAU) ✅完成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腾讯AI战略研究 — C Job Day 2 战略洞察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AF37"/>
                </a:solidFill>
              </a:rPr>
              <a:t>技术框架 · 产品路线 · 竞争格局 · 投资判断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91640"/>
            <a:ext cx="5303520" cy="411480"/>
          </a:xfrm>
          <a:prstGeom prst="rect">
            <a:avLst/>
          </a:prstGeom>
          <a:solidFill>
            <a:srgbClr val="00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190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🧠 姚顺雨核心研究框架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73152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5"/>
                </a:solidFill>
              </a:rPr>
              <a:t>ReAct = 推理 + 行动协同（核心公式）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532888"/>
            <a:ext cx="73152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328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5"/>
                </a:solidFill>
              </a:rPr>
              <a:t>ToT = 多路径推理框架（同时搜索思考和行动）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871216"/>
            <a:ext cx="73152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712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5"/>
                </a:solidFill>
              </a:rPr>
              <a:t>τ-bench = 工具 + 用户 + 规则三位一体验证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209544"/>
            <a:ext cx="73152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095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5"/>
                </a:solidFill>
              </a:rPr>
              <a:t>核心瓶颈：LLM不擅长自我评估（self-evaluation）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547872"/>
            <a:ext cx="73152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47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5"/>
                </a:solidFill>
              </a:rPr>
              <a:t>落地方向：Digital Automation（最大机会）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86200"/>
            <a:ext cx="73152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5F5"/>
                </a:solidFill>
              </a:rPr>
              <a:t>微信Agent难点：谁对执行结果负责？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1691640"/>
            <a:ext cx="6035040" cy="411480"/>
          </a:xfrm>
          <a:prstGeom prst="rect">
            <a:avLst/>
          </a:prstGeom>
          <a:solidFill>
            <a:srgbClr val="00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17190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🔗 Hy3技术参数 × 产品接入矩阵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AF37"/>
                </a:solidFill>
              </a:rPr>
              <a:t>Hy3（混元大模型）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943600" y="2487168"/>
          <a:ext cx="2743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总参数量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295B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激活参数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21B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上下文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256K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定位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腾讯基础模型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86968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AF37"/>
                </a:solidFill>
              </a:rPr>
              <a:t>产品接入矩阵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869680" y="2487168"/>
          <a:ext cx="29260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产品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定位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元宝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C端AI助手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知识管理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CodeBuddy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代码辅助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WorkBuddy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企业协作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腾讯文档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办公集成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274320" y="4709160"/>
            <a:ext cx="11640312" cy="411480"/>
          </a:xfrm>
          <a:prstGeom prst="rect">
            <a:avLst/>
          </a:prstGeom>
          <a:solidFill>
            <a:srgbClr val="1F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7365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AF37"/>
                </a:solidFill>
              </a:rPr>
              <a:t>💡 Buffett核心判断：腾讯"慢"是理性选择，不是能力不足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274320" y="5166360"/>
          <a:ext cx="11612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63440"/>
                <a:gridCol w="46634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004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腾讯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004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AI策略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渐进验证，真实场景优先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All-in各种热点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快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低（不成熟方案不上线）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高（追逐热点踏空风险）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护城河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验证体系一旦建立极难复制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热点分散无护城河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Agent爆发概率(2027)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60-70%（中国头部）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 standalone="yes"?>
<p:sld xmlns:a="http://schemas.openxmlformats.org/drawingml/2006/main" xmlns:p="http://schemas.openxmlformats.org/presentationml/2006/main" xmlns:r="http://schemas.openxmlformats.org/officeDocument/2006/relationships">
<p:cSld>
<p:bg><p:bgPr><a:solidFill><a:srgbClr val="1A1A2E"/></a:solidFill><a:effectLst/></p:bgPr></p:bg>
<p:spTree>
<p:nvGrpSpPr><p:cNvPr id="1" name=""/><p:cNvGrpSpPr/><p:nvPr/></p:nvGrpSpPr>
<p:grpSpPr/>
<p:sp><p:nvSpPr><p:cNvPr id="2" name="Header Bar"/><p:cNvSpPr/><p:nvPr/></p:nvSpPr>
<p:spPr><a:xfrm><a:off x="0" y="0"/><a:ext cx="12188952" cy="1097280"/></a:xfrm><a:prstGeom prst="rect"><a:avLst/></a:prstGeom><a:solidFill><a:srgbClr val="004A8A"/></a:solidFill><a:ln><a:noFill/></a:ln></p:spPr>
<p:txBody><a:bodyPr rtlCol="0" anchor="ctr"/><a:lstStyle/><a:p><a:pPr algn="ctr"/></a:p></p:txBody></p:sp>
<p:sp><p:nvSpPr><p:cNvPr id="3" name="Title"/><p:cNvSpPr txBox="1"/><p:nvPr/></p:nvSpPr>
<p:spPr><a:xfrm><a:off x="274320" y="91440"/><a:ext cx="10972800" cy="731520"/></a:xfrm><a:prstGeom prst="rect"><a:avLst/></a:prstGeom><a:noFill/></p:spPr>
<p:txBody><a:bodyPr wrap="square"><a:spAutoFit/></a:bodyPr><a:lstStyle/><a:p><a:pPr algn="ctr"/><a:r><a:rPr sz="2800" b="1" i="0"><a:solidFill><a:srgbClr val="FFFFFF"/></a:solidFill></a:rPr><a:t>腾讯AI战略研究 — C Job Day 4 分析师观点 &amp; 竞争格局</a:t></a:r></a:p></p:txBody></p:sp>
<p:sp><p:nvSpPr><p:cNvPr id="4" name="Subtitle"/><p:cNvSpPr txBox="1"/><p:nvPr/></p:nvSpPr>
<p:spPr><a:xfrm><a:off x="274320" y="1188720"/><a:ext cx="10972800" cy="365760"/></a:xfrm><a:prstGeom prst="rect"><a:avLst/></a:prstGeom><a:noFill/></p:spPr>
<p:txBody><a:bodyPr wrap="square"><a:spAutoFit/></a:bodyPr><a:lstStyle/><a:p><a:pPr algn="ctr"/><a:r><a:rPr sz="1400" b="0" i="1"><a:solidFill><a:srgbClr val="D4AF37"/></a:solidFill></a:rPr><a:t>分析师观点汇总 · 竞争格局对比 · 估值支撑</a:t></a:r></a:p></p:txBody></p:sp>
<p:sp><p:nvSpPr><p:cNvPr id="5" name="SectionBox1"/><p:cNvSpPr/><p:nvPr/></p:nvSpPr>
<p:spPr><a:xfrm><a:off x="274320" y="1737360"/><a:ext cx="5303520" cy="457200"/></a:xfrm><a:prstGeom prst="rect"><a:avLst/></a:prstGeom><a:solidFill><a:srgbClr val="004A8A"/></a:solidFill><a:ln><a:noFill/></a:ln></p:spPr>
<p:txBody><a:bodyPr rtlCol="0" anchor="ctr"/><a:lstStyle/><a:p><a:pPr algn="ctr"/></a:p></p:txBody></p:sp>
<p:sp><p:nvSpPr><p:cNvPr id="6" name="SectionTitle1"/><p:cNvSpPr txBox="1"/><p:nvPr/></p:nvSpPr>
<p:spPr><a:xfrm><a:off x="365760" y="1783080"/><a:ext cx="5120640" cy="365760"/></a:xfrm><a:prstGeom prst="rect"><a:avLst/></a:prstGeom><a:noFill/></p:spPr>
<p:txBody><a:bodyPr wrap="square"><a:spAutoFit/></a:bodyPr><a:lstStyle/><a:p><a:pPr algn="l"/><a:r><a:rPr sz="1400" b="1" i="0"><a:solidFill><a:srgbClr val="FFFFFF"/></a:solidFill></a:rPr><a:t>📋 分析师观点汇总</a:t></a:r></a:p></p:txBody></p:sp>
<p:graphicFrame><p:nvGraphicFramePr><p:cNvPr id="7" name="AnalystTable"/><p:cNvGraphicFramePr><a:graphicFrameLocks noGrp="1"/></p:cNvGraphicFramePr><p:nvPr/></p:nvGraphicFramePr>
<p:xfrm><a:off x="274320" y="2286000"/><a:ext cx="5303520" cy="2286000"/></p:xfrm>
<a:graphic><a:graphicData uri="http://schemas.openxmlformats.org/drawingml/2006/table"><a:tbl><a:tblPr firstRow="1" bandRow="1"><a:tableStyleId>{5C22544A-7EE6-4342-B048-85BDC9FD1C3A}</a:tableStyleId></a:tblPr>
<a:tblGrid><a:gridCol w="1800000"/><a:gridCol w="3503520"/></a:tblGrid>
<a:tr h="320000"><a:tc><a:txBody><a:bodyPr/><a:lstStyle/><a:p><a:pPr algn="ctr"><a:defRPr sz="1100" b="1"><a:solidFill><a:srgbClr val="FFFFFF"/></a:solidFill></a:defRPr></a:pPr><a:r><a:t>维度</a:t></a:r></a:p></a:txBody><a:tcPr><a:solidFill><a:srgbClr val="004A8A"/></a:solidFill></a:tcPr></a:tc>
<a:tc><a:txBody><a:bodyPr/><a:lstStyle/><a:p><a:pPr algn="ctr"><a:defRPr sz="1100" b="1"><a:solidFill><a:srgbClr val="FFFFFF"/></a:solidFill></a:defRPr></a:pPr><a:r><a:t>内容</a:t></a:r></a:p></a:txBody><a:tcPr><a:solidFill><a:srgbClr val="004A8A"/></a:solidFill></a:tcPr></a:tc></a:tr>
<a:tr h="320000"><a:tc><a:txBody><a:bodyPr/><a:lstStyle/><a:p><a:pPr algn="l"><a:defRPr sz="1100"><a:solidFill><a:srgbClr val="FFFFFF"/></a:solidFill></a:defRPr></a:pPr><a:r><a:t>估值依据</a:t></a:r></a:p></a:txBody><a:tcPr/></a:tc><a:tc><a:txBody><a:bodyPr/><a:lstStyle/><a:p><a:pPr algn="l"><a:defRPr sz="1100"><a:solidFill><a:srgbClr val="FFFFFF"/></a:solidFill></a:defRPr></a:pPr><a:r><a:t>439港元 / PE12倍，低于历史中枢18-20倍</a:t></a:r></a:p></a:txBody><a:tcPr/></a:tc></a:tr>
<a:tr h="320000"><a:tc><a:txBody><a:bodyPr/><a:lstStyle/><a:p><a:pPr algn="l"><a:defRPr sz="1100"><a:solidFill><a:srgbClr val="FFFFFF"/></a:solidFill></a:defRPr></a:pPr><a:r><a:t>目标价区间</a:t></a:r></a:p></a:txBody><a:tcPr/></a:tc><a:tc><a:txBody><a:bodyPr/><a:lstStyle/><a:p><a:pPr algn="l"><a:defRPr sz="1100"><a:solidFill><a:srgbClr val="FFFFFF"/></a:solidFill></a:defRPr></a:pPr><a:r><a:t>HKD 470-520（潜在涨幅 +8%~+18%）</a:t></a:r></a:p></a:txBody><a:tcPr/></a:tc></a:tr>
<a:tr h="320000"><a:tc><a:txBody><a:bodyPr/><a:lstStyle/><a:p><a:pPr algn="l"><a:defRPr sz="1100"><a:solidFill><a:srgbClr val="FFFFFF"/></a:solidFill></a:defRPr></a:pPr><a:r><a:t>情景分析</a:t></a:r></a:p></a:txBody><a:tcPr/></a:tc><a:tc><a:txBody><a:bodyPr/><a:lstStyle/><a:p><a:pPr algn="l"><a:defRPr sz="1100"><a:solidFill><a:srgbClr val="FFFFFF"/></a:solidFill></a:defRPr></a:pPr><a:r><a:t>Bull 706港元(+61%) / Base 545港元(+24%) / Bear 366港元(-17%)</a:t></a:r></a:p></a:txBody><a:tcPr/></a:tc></a:tr>
<a:tr h="320000"><a:tc><a:txBody><a:bodyPr/><a:lstStyle/><a:p><a:pPr algn="l"><a:defRPr sz="1100"><a:solidFill><a:srgbClr val="FFFFFF"/></a:solidFill></a:defRPr></a:pPr><a:r><a:t>投资建议</a:t></a:r></a:p></a:txBody><a:tcPr/></a:tc><a:tc><a:txBody><a:bodyPr/><a:lstStyle/><a:p><a:pPr algn="l"><a:defRPr sz="1100"><a:solidFill><a:srgbClr val="D4AF37"/></a:solidFill></a:defRPr></a:pPr><a:r><a:t>中期谨慎买入，长期强烈买入</a:t></a:r></a:p></a:txBody><a:tcPr/></a:tc></a:tr>
<a:tr h="320000"><a:tc><a:txBody><a:bodyPr/><a:lstStyle/><a:p><a:pPr algn="l"><a:defRPr sz="1100"><a:solidFill><a:srgbClr val="FFFFFF"/></a:solidFill></a:defRPr></a:pPr><a:r><a:t>催化剂</a:t></a:r></a:p></a:txBody><a:tcPr/></a:tc><a:tc><a:txBody><a:bodyPr/><a:lstStyle/><a:p><a:pPr algn="l"><a:defRPr sz="1100"><a:solidFill><a:srgbClr val="FFFFFF"/></a:solidFill></a:defRPr></a:pPr><a:r><a:t>微信Agent爆发 / Hy3落地规模 / AI变现验证</a:t></a:r></a:p></a:txBody><a:tcPr/></a:tc></a:tr>
</a:tbl></a:graphic></p:graphicFrame>
<p:sp><p:nvSpPr><p:cNvPr id="8" name="SectionBox2"/><p:cNvSpPr/><p:nvPr/></p:nvSpPr>
<p:spPr><a:xfrm><a:off x="5944560" y="1737360"/><a:ext cx="5891040" cy="457200"/></a:xfrm><a:prstGeom prst="rect"><a:avLst/></a:prstGeom><a:solidFill><a:srgbClr val="8B0000"/></a:solidFill><a:ln><a:noFill/></a:ln></p:spPr>
<p:txBody><a:bodyPr rtlCol="0" anchor="ctr"/><a:lstStyle/><a:p><a:pPr algn="ctr"/></a:p></p:txBody></p:sp>
<p:sp><p:nvSpPr><p:cNvPr id="9" name="SectionTitle2"/><p:cNvSpPr txBox="1"/><p:nvPr/></p:nvSpPr>
<p:spPr><a:xfrm><a:off x="6034560" y="1783080"/><a:ext cx="5708640" cy="365760"/></a:xfrm><a:prstGeom prst="rect"><a:avLst/></a:prstGeom><a:noFill/></p:spPr>
<p:txBody><a:bodyPr wrap="square"><a:spAutoFit/></a:bodyPr><a:lstStyle/><a:p><a:pPr algn="l"/><a:r><a:rPr sz="1400" b="1" i="0"><a:solidFill><a:srgbClr val="FFFFFF"/></a:solidFill></a:rPr><a:t>⚔️ 竞争格局对比</a:t></a:r></a:p></p:txBody></p:sp>
<p:graphicFrame><p:nvGraphicFramePr><p:cNvPr id="10" name="CompTable"/><p:cNvGraphicFramePr><a:graphicFrameLocks noGrp="1"/></p:cNvGraphicFramePr><p:nvPr/></p:nvGraphicFramePr>
<p:xfrm><a:off x="5944560" y="2286000"/><a:ext cx="5891040" cy="2286000"/></p:xfrm>
<a:graphic><a:graphicData uri="http://schemas.openxmlformats.org/drawingml/2006/table"><a:tbl><a:tblPr firstRow="1" bandRow="1"><a:tableStyleId>{5C22544A-7EE6-4342-B048-85BDC9FD1C3A}</a:tableStyleId></a:tblPr>
<a:tblGrid><a:gridCol w="1500000"/><a:gridCol w="1500000"/><a:gridCol w="2891040"/></a:tblGrid>
<a:tr h="320000"><a:tc><a:txBody><a:bodyPr/><a:lstStyle/><a:p><a:pPr algn="ctr"><a:defRPr sz="1100" b="1"><a:solidFill><a:srgbClr val="FFFFFF"/></a:solidFill></a:defRPr></a:pPr><a:r><a:t>维度</a:t></a:r></a:p></a:txBody><a:tcPr><a:solidFill><a:srgbClr val="8B0000"/></a:solidFill></a:tcPr></a:tc>
<a:tc><a:txBody><a:bodyPr/><a:lstStyle/><a:p><a:pPr algn="ctr"><a:defRPr sz="1100" b="1"><a:solidFill><a:srgbClr val="FFFFFF"/></a:solidFill></a:defRPr></a:pPr><a:r><a:t>腾讯</a:t></a:r></a:p></a:txBody><a:tcPr><a:solidFill><a:srgbClr val="8B0000"/></a:solidFill></a:tcPr></a:tc>
<a:tc><a:txBody><a:bodyPr/><a:lstStyle/><a:p><a:pPr algn="ctr"><a:defRPr sz="1100" b="1"><a:solidFill><a:srgbClr val="FFFFFF"/></a:solidFill></a:defRPr></a:pPr><a:r><a:t>Meta</a:t></a:r></a:p></a:txBody><a:tcPr><a:solidFill><a:srgbClr val="8B0000"/></a:solidFill></a:tcPr></a:tc></a:tr>
<a:tr h="320000"><a:tc><a:txBody><a:bodyPr/><a:lstStyle/><a:p><a:pPr algn="l"><a:defRPr sz="1100"><a:solidFill><a:srgbClr val="FFFFFF"/></a:solidFill></a:defRPr></a:pPr><a:r><a:t>AI策略</a:t></a:r></a:p></a:txBody><a:tcPr/></a:tc><a:tc><a:txBody><a:bodyPr/><a:lstStyle/><a:p><a:pPr algn="l"><a:defRPr sz="1100"><a:solidFill><a:srgbClr val="FFFFFF"/></a:solidFill></a:defRPr></a:pPr><a:r><a:t>渐进验证，真实场景优先</a:t></a:r></a:p></a:txBody><a:tcPr/></a:tc><a:tc><a:txBody><a:bodyPr/><a:lstStyle/><a:p><a:pPr algn="l"><a:defRPr sz="1100"><a:solidFill><a:srgbClr val="FFFFFF"/></a:solidFill></a:defRPr></a:pPr><a:r><a:t>All-in 各种热点</a:t></a:r></a:p></a:txBody><a:tcPr/></a:tc></a:tr>
<a:tr h="320000"><a:tc><a:txBody><a:bodyPr/><a:lstStyle/><a:p><a:pPr algn="l"><a:defRPr sz="1100"><a:solidFill><a:srgbClr val="FFFFFF"/></a:solidFill></a:defRPr></a:pPr><a:r><a:t>速度</a:t></a:r></a:p></a:txBody><a:tcPr/></a:tc><a:tc><a:txBody><a:bodyPr/><a:lstStyle/><a:p><a:pPr algn="ctr"><a:defRPr sz="1100"><a:solidFill><a:srgbClr val="00FF00"/></a:solidFill></a:defRPr></a:pPr><a:r><a:t>慢</a:t></a:r></a:p></a:txBody><a:tcPr/></a:tc><a:tc><a:txBody><a:bodyPr/><a:lstStyle/><a:p><a:pPr algn="ctr"><a:defRPr sz="1100"><a:solidFill><a:srgbClr val="FF6666"/></a:solidFill></a:defRPr></a:pPr><a:r><a:t>快</a:t></a:r></a:p></a:txBody><a:tcPr/></a:tc></a:tr>
<a:tr h="320000"><a:tc><a:txBody><a:bodyPr/><a:lstStyle/><a:p><a:pPr algn="l"><a:defRPr sz="1100"><a:solidFill><a:srgbClr val="FFFFFF"/></a:solidFill></a:defRPr></a:pPr><a:r><a:t>风险偏好</a:t></a:r></a:p></a:txBody><a:tcPr/></a:tc><a:tc><a:txBody><a:bodyPr/><a:lstStyle/><a:p><a:pPr algn="l"><a:defRPr sz="1100"><a:solidFill><a:srgbClr val="FFFFFF"/></a:solidFill></a:defRPr></a:pPr><a:r><a:t>低（不成熟方案不上线）</a:t></a:r></a:p></a:txBody><a:tcPr/></a:tc><a:tc><a:txBody><a:bodyPr/><a:lstStyle/><a:p><a:pPr algn="l"><a:defRPr sz="1100"><a:solidFill><a:srgbClr val="FFFFFF"/></a:solidFill></a:defRPr></a:pPr><a:r><a:t>高（追逐热点踏空风险）</a:t></a:r></a:p></a:txBody><a:tcPr/></a:tc></a:tr>
<a:tr h="320000"><a:tc><a:txBody><a:bodyPr/><a:lstStyle/><a:p><a:pPr algn="l"><a:defRPr sz="1100"><a:solidFill><a:srgbClr val="FFFFFF"/></a:solidFill></a:defRPr></a:pPr><a:r><a:t>护城河</a:t></a:r></a:p></a:txBody><a:tcPr/></a:tc><a:tc><a:txBody><a:bodyPr/><a:lstStyle/><a:p><a:pPr algn="l"><a:defRPr sz="1100"><a:solidFill><a:srgbClr val="00FF00"/></a:solidFill></a:defRPr></a:pPr><a:r><a:t>验证体系一旦建立极难复制</a:t></a:r></a:p></a:txBody><a:tcPr/></a:tc><a:tc><a:txBody><a:bodyPr/><a:lstStyle/><a:p><a:pPr algn="l"><a:defRPr sz="1100"><a:solidFill><a:srgbClr val="FF6666"/></a:solidFill></a:defRPr></a:pPr><a:r><a:t>热点分散无护城河</a:t></a:r></a:p></a:txBody><a:tcPr/></a:tc></a:tr>
<a:tr h="320000"><a:tc><a:txBody><a:bodyPr/><a:lstStyle/><a:p><a:pPr algn="l"><a:defRPr sz="1100"><a:solidFill><a:srgbClr val="FFFFFF"/></a:solidFill></a:defRPr></a:pPr><a:r><a:t>Agent爆发概率(2027)</a:t></a:r></a:p></a:txBody><a:tcPr/></a:tc><a:tc><a:txBody><a:bodyPr/><a:lstStyle/><a:p><a:pPr algn="ctr"><a:defRPr sz="1100" b="1"><a:solidFill><a:srgbClr val="00FF00"/></a:solidFill></a:defRPr></a:pPr><a:r><a:t>60-70%</a:t></a:r></a:p></a:txBody><a:tcPr/></a:tc><a:tc><a:txBody><a:bodyPr/><a:lstStyle/><a:p><a:pPr algn="ctr"><a:defRPr sz="1100"><a:solidFill><a:srgbClr val="AAAAAA"/></a:solidFill></a:defRPr></a:pPr><a:r><a:t>—</a:t></a:r></a:p></a:txBody><a:tcPr/></a:tc></a:tr>
</a:tbl></a:graphic></p:graphicFrame>
<p:sp><p:nvSpPr><p:cNvPr id="11" name="FooterBox"/><p:cNvSpPr/><p:nvPr/></p:nvSpPr>
<p:spPr><a:xfrm><a:off x="0" y="6400000"/><a:ext cx="12188952" cy="457600"/></a:xfrm><a:prstGeom prst="rect"><a:avLst/></a:prstGeom><a:solidFill><a:srgbClr val="004A8A"/></a:solidFill><a:ln><a:noFill/></a:ln></p:spPr>
<p:txBody><a:bodyPr rtlCol="0" anchor="ctr"/><a:lstStyle/><a:p><a:pPr algn="ctr"/><a:r><a:rPr sz="1000"><a:solidFill><a:srgbClr val="AAAAAA"/></a:solidFill></a:rPr><a:t>数据来源：腾讯官方财报 / 分析师估算 | C Job Day 4</a:t></a:r></a:p></p:txBody></p:sp>
</p:spTree>
</p:cSld>
<p:clrMapOvr><a:masterClrMapping/></p:clrMapOvr>
</p:sld>
</file>

<file path=ppt/slides/slide4.xml><?xml version="1.0" encoding="UTF-8" standalone="yes"?>
<p:sld xmlns:a="http://schemas.openxmlformats.org/drawingml/2006/main" xmlns:p="http://schemas.openxmlformats.org/presentationml/2006/main" xmlns:r="http://schemas.openxmlformats.org/officeDocument/2006/relationships">
<p:cSld>
<p:bg><p:bgPr><a:solidFill><a:srgbClr val="1A1A2E"/></a:solidFill><a:effectLst/></p:bgPr></p:bg>
<p:spTree>
<p:nvGrpSpPr><p:cNvPr id="1" name=""/><p:cNvGrpSpPr/><p:nvPr/></p:nvGrpSpPr>
<p:grpSpPr/>
<p:sp><p:nvSpPr><p:cNvPr id="2" name="Header Bar"/><p:cNvSpPr/><p:nvPr/></p:nvSpPr>
<p:spPr><a:xfrm><a:off x="0" y="0"/><a:ext cx="12188952" cy="1097280"/></a:xfrm><a:prstGeom prst="rect"><a:avLst/></a:prstGeom><a:solidFill><a:srgbClr val="004A8A"/></a:solidFill><a:ln><a:noFill/></a:ln></p:spPr>
<p:txBody><a:bodyPr rtlCol="0" anchor="ctr"/><a:lstStyle/><a:p><a:pPr algn="ctr"/></a:p></p:txBody></p:sp>
<p:sp><p:nvSpPr><p:cNvPr id="3" name="Title"/><p:cNvSpPr txBox="1"/><p:nvPr/></p:nvSpPr>
<p:spPr><a:xfrm><a:off x="274320" y="91440"/><a:ext cx="10972800" cy="731520"/></a:xfrm><a:prstGeom prst="rect"><a:avLst/></a:prstGeom><a:noFill/></p:spPr>
<p:txBody><a:bodyPr wrap="square"><a:spAutoFit/></a:bodyPr><a:lstStyle/><a:p><a:pPr algn="ctr"/><a:r><a:rPr sz="2800" b="1" i="0"><a:solidFill><a:srgbClr val="FFFFFF"/></a:solidFill></a:rPr><a:t>腾讯AI战略研究 — C Job Day 5 投资风险 &amp; 建议总结</a:t></a:r></a:p></p:txBody></p:sp>
<p:sp><p:nvSpPr><p:cNvPr id="4" name="Subtitle"/><p:cNvSpPr txBox="1"/><p:nvPr/></p:nvSpPr>
<p:spPr><a:xfrm><a:off x="274320" y="1188720"/><a:ext cx="10972800" cy="365760"/></a:xfrm><a:prstGeom prst="rect"><a:avLst/></a:prstGeom><a:noFill/></p:spPr>
<p:txBody><a:bodyPr wrap="square"><a:spAutoFit/></a:bodyPr><a:lstStyle/><a:p><a:pPr algn="ctr"/><a:r><a:rPr sz="1400" b="0" i="1"><a:solidFill><a:srgbClr val="D4AF37"/></a:solidFill></a:rPr><a:t>风险评估 · 情景分析 · 投资建议总结</a:t></a:r></a:p></p:txBody></p:sp>
<p:sp><p:nvSpPr><p:cNvPr id="5" name="SectionBox1"/><p:cNvSpPr/><p:nvPr/></p:nvSpPr>
<p:spPr><a:xfrm><a:off x="274320" y="1737360"/><a:ext cx="3657600" cy="457200"/></a:xfrm><a:prstGeom prst="rect"><a:avLst/></a:prstGeom><a:solidFill><a:srgbClr val="8B0000"/></a:solidFill><a:ln><a:noFill/></a:ln></p:spPr>
<p:txBody><a:bodyPr rtlCol="0" anchor="ctr"/><a:lstStyle/><a:p><a:pPr algn="ctr"/></a:p></p:txBody></p:sp>
<p:sp><p:nvSpPr><p:cNvPr id="6" name="SectionTitle1"/><p:cNvSpPr txBox="1"/><p:nvPr/></p:nvSpPr>
<p:spPr><a:xfrm><a:off x="365760" y="1783080"/><a:ext cx="3483360" cy="365760"/></a:xfrm><a:prstGeom prst="rect"><a:avLst/></a:prstGeom><a:noFill/></p:spPr>
<p:txBody><a:bodyPr wrap="square"><a:spAutoFit/></a:bodyPr><a:lstStyle/><a:p><a:pPr algn="l"/><a:r><a:rPr sz="1400" b="1" i="0"><a:solidFill><a:srgbClr val="FFFFFF"/></a:solidFill></a:rPr><a:t>⚠️ 投资风险</a:t></a:r></a:p></p:txBody></p:sp>
<p:graphicFrame><p:nvGraphicFramePr><p:cNvPr id="7" name="RiskTable"/><p:cNvGraphicFramePr><a:graphicFrameLocks noGrp="1"/></p:cNvGraphicFramePr><p:nvPr/></p:nvGraphicFramePr>
<p:xfrm><a:off x="274320" y="2286000"/><a:ext cx="3657600" cy="2286000"/></p:xfrm>
<a:graphic><a:graphicData uri="http://schemas.openxmlformats.org/drawingml/2006/table"><a:tbl><a:tblPr firstRow="1" bandRow="1"><a:tableStyleId>{5C22544A-7EE6-4342-B048-85BDC9FD1C3A}</a:tableStyleId></a:tblPr>
<a:tblGrid><a:gridCol w="1600000"/><a:gridCol w="2057600"/></a:tblGrid>
<a:tr h="320000"><a:tc><a:txBody><a:bodyPr/><a:lstStyle/><a:p><a:pPr algn="ctr"><a:defRPr sz="1100" b="1"><a:solidFill><a:srgbClr val="FFFFFF"/></a:solidFill></a:defRPr></a:pPr><a:r><a:t>风险类型</a:t></a:r></a:p></a:txBody><a:tcPr><a:solidFill><a:srgbClr val="8B0000"/></a:solidFill></a:tcPr></a:tc>
<a:tc><a:txBody><a:bodyPr/><a:lstStyle/><a:p><a:pPr algn="ctr"><a:defRPr sz="1100" b="1"><a:solidFill><a:srgbClr val="FFFFFF"/></a:solidFill></a:defRPr></a:pPr><a:r><a:t>描述</a:t></a:r></a:p></a:txBody><a:tcPr><a:solidFill><a:srgbClr val="8B0000"/></a:solidFill></a:tcPr></a:tc></a:tr>
<a:tr h="320000"><a:tc><a:txBody><a:bodyPr/><a:lstStyle/><a:p><a:pPr algn="l"><a:defRPr sz="1100"><a:solidFill><a:srgbClr val="FFFFFF"/></a:solidFill></a:defRPr></a:pPr><a:r><a:t>监管风险</a:t></a:r></a:p></a:txBody><a:tcPr/></a:tc><a:tc><a:txBody><a:bodyPr/><a:lstStyle/><a:p><a:pPr algn="l"><a:defRPr sz="1100"><a:solidFill><a:srgbClr val="FFFFFF"/></a:solidFill></a:defRPr></a:pPr><a:r><a:t>AI监管政策收紧，数据合规要求提升</a:t></a:r></a:p></a:txBody><a:tcPr/></a:tc></a:tr>
<a:tr h="320000"><a:tc><a:txBody><a:bodyPr/><a:lstStyle/><a:p><a:pPr algn="l"><a:defRPr sz="1100"><a:solidFill><a:srgbClr val="FFFFFF"/></a:solidFill></a:defRPr></a:pPr><a:r><a:t>竞争风险</a:t></a:r></a:p></a:txBody><a:tcPr/></a:tc><a:tc><a:txBody><a:bodyPr/><a:lstStyle/><a:p><a:pPr algn="l"><a:defRPr sz="1100"><a:solidFill><a:srgbClr val="FFFFFF"/></a:solidFill></a:defRPr></a:pPr><a:r><a:t>字节/阿里AI产品快速迭代，抢占用户时间</a:t></a:r></a:p></a:txBody><a:tcPr/></a:tc></a:tr>
<a:tr h="320000"><a:tc><a:txBody><a:bodyPr/><a:lstStyle/><a:p><a:pPr algn="l"><a:defRPr sz="1100"><a:solidFill><a:srgbClr val="FFFFFF"/></a:solidFill></a:defRPr></a:pPr><a:r><a:t>技术风险</a:t></a:r></a:p></a:txBody><a:tcPr/></a:tc><a:tc><a:txBody><a:bodyPr/><a:lstStyle/><a:p><a:pPr algn="l"><a:defRPr sz="1100"><a:solidFill><a:srgbClr val="FFFFFF"/></a:solidFill></a:defRPr></a:pPr><a:r><a:t>Hy3落地效果不及预期，Agent用户粘性低</a:t></a:r></a:p></a:txBody><a:tcPr/></a:tc></a:tr>
<a:tr h="320000"><a:tc><a:txBody><a:bodyPr/><a:lstStyle/><a:p><a:pPr algn="l"><a:defRPr sz="1100"><a:solidFill><a:srgbClr val="FFFFFF"/></a:solidFill></a:defRPr></a:pPr><a:r><a:t>变现风险</a:t></a:r></a:p></a:txBody><a:tcPr/></a:tc><a:tc><a:txBody><a:bodyPr/><a:lstStyle/><a:p><a:pPr algn="l"><a:defRPr sz="1100"><a:solidFill><a:srgbClr val="FFFFFF"/></a:solidFill></a:defRPr></a:pPr><a:r><a:t>AI付费模式在中国市场接受度待验证</a:t></a:r></a:p></a:txBody><a:tcPr/></a:tc></a:tr>
<a:tr h="320000"><a:tc><a:txBody><a:bodyPr/><a:lstStyle/><a:p><a:pPr algn="l"><a:defRPr sz="1100"><a:solidFill><a:srgbClr val="FFFFFF"/></a:solidFill></a:defRPr></a:pPr><a:r><a:t>宏观风险</a:t></a:r></a:p></a:txBody><a:tcPr/></a:tc><a:tc><a:txBody><a:bodyPr/><a:lstStyle/><a:p><a:pPr algn="l"><a:defRPr sz="1100"><a:solidFill><a:srgbClr val="FFFFFF"/></a:solidFill></a:defRPr></a:pPr><a:r><a:t>中国经济复苏放缓，消费互联网广告收入承压</a:t></a:r></a:p></a:txBody><a:tcPr/></a:tc></a:tr>
</a:tbl></a:graphic></p:graphicFrame>
<p:sp><p:nvSpPr><p:cNvPr id="8" name="SectionBox2"/><p:cNvSpPr/><p:nvPr/></p:nvSpPr>
<p:spPr><a:xfrm><a:off x="4114560" y="1737360"/><a:ext cx="3657600" cy="457200"/></a:xfrm><a:prstGeom prst="rect"><a:avLst/></a:prstGeom><a:solidFill><a:srgbClr val="D4AF37"/></a:solidFill><a:ln><a:noFill/></a:ln></p:spPr>
<p:txBody><a:bodyPr rtlCol="0" anchor="ctr"/><a:lstStyle/><a:p><a:pPr algn="ctr"/></a:p></p:txBody></p:sp>
<p:sp><p:nvSpPr><p:cNvPr id="9" name="SectionTitle2"/><p:cNvSpPr txBox="1"/><p:nvPr/></p:nvSpPr>
<p:spPr><a:xfrm><a:off x="4204560" y="1783080"/><a:ext cx="3483360" cy="365760"/></a:xfrm><a:prstGeom prst="rect"><a:avLst/></a:prstGeom><a:noFill/></p:spPr>
<p:txBody><a:bodyPr wrap="square"><a:spAutoFit/></a:bodyPr><a:lstStyle/><a:p><a:pPr algn="l"/><a:r><a:rPr sz="1400" b="1" i="0"><a:solidFill><a:srgbClr val="1A1A2E"/></a:solidFill></a:rPr><a:t>📊 情景分析总结</a:t></a:r></a:p></p:txBody></p:sp>
<p:graphicFrame><p:nvGraphicFramePr><p:cNvPr id="10" name="ScenarioTable"/><p:cNvGraphicFramePr><a:graphicFrameLocks noGrp="1"/></p:cNvGraphicFramePr><p:nvPr/></p:nvGraphicFramePr>
<p:xfrm><a:off x="4114560" y="2286000"/><a:ext cx="3657600" cy="2286000"/></p:xfrm>
<a:graphic><a:graphicData uri="http://schemas.openxmlformats.org/drawingml/2006/table"><a:tbl><a:tblPr firstRow="1" bandRow="1"><a:tableStyleId>{5C22544A-7EE6-4342-B048-85BDC9FD1C3A}</a:tableStyleId></a:tblPr>
<a:tblGrid><a:gridCol w="1000000"/><a:gridCol w="1300000"/><a:gridCol w="1357600"/></a:tblGrid>
<a:tr h="320000"><a:tc><a:txBody><a:bodyPr/><a:lstStyle/><a:p><a:pPr algn="ctr"><a:defRPr sz="1100" b="1"><a:solidFill><a:srgbClr val="FFFFFF"/></a:solidFill></a:defRPr></a:pPr><a:r><a:t>情景</a:t></a:r></a:p></a:txBody><a:tcPr><a:solidFill><a:srgbClr val="D4AF37"/></a:solidFill></a:tcPr></a:tc>
<a:tc><a:txBody><a:bodyPr/><a:lstStyle/><a:p><a:pPr algn="ctr"><a:defRPr sz="1100" b="1"><a:solidFill><a:srgbClr val="1A1A2E"/></a:solidFill></a:defRPr></a:pPr><a:r><a:t>目标价</a:t></a:r></a:p></a:txBody><a:tcPr><a:solidFill><a:srgbClr val="D4AF37"/></a:solidFill></a:tcPr></a:tc>
<a:tc><a:txBody><a:bodyPr/><a:lstStyle/><a:p><a:pPr algn="ctr"><a:defRPr sz="1100" b="1"><a:solidFill><a:srgbClr val="1A1A2E"/></a:solidFill></a:defRPr></a:pPr><a:r><a:t>潜在涨幅</a:t></a:r></a:p></a:txBody><a:tcPr><a:solidFill><a:srgbClr val="D4AF37"/></a:solidFill></a:tcPr></a:tc></a:tr>
<a:tr h="320000"><a:tc><a:txBody><a:bodyPr/><a:lstStyle/><a:p><a:pPr algn="ctr"><a:defRPr sz="1100" b="1"><a:solidFill><a:srgbClr val="00FF00"/></a:solidFill></a:defRPr></a:pPr><a:r><a:t>Bull</a:t></a:r></a:p></a:txBody><a:tcPr/></a:tc><a:tc><a:txBody><a:bodyPr/><a:lstStyle/><a:p><a:pPr algn="ctr"><a:defRPr sz="1100" b="1"><a:solidFill><a:srgbClr val="00FF00"/></a:solidFill></a:defRPr></a:pPr><a:r><a:t>706港元</a:t></a:r></a:p></a:txBody><a:tcPr/></a:tc><a:tc><a:txBody><a:bodyPr/><a:lstStyle/><a:p><a:pPr algn="ctr"><a:defRPr sz="1100" b="1"><a:solidFill><a:srgbClr val="00FF00"/></a:solidFill></a:defRPr></a:pPr><a:r><a:t>+61%</a:t></a:r></a:p></a:txBody><a:tcPr/></a:tc></a:tr>
<a:tr h="320000"><a:tc><a:txBody><a:bodyPr/><a:lstStyle/><a:p><a:pPr algn="ctr"><a:defRPr sz="1100" b="1"><a:solidFill><a:srgbClr val="D4AF37"/></a:solidFill></a:defRPr></a:pPr><a:r><a:t>Base</a:t></a:r></a:p></a:txBody><a:tcPr/></a:tc><a:tc><a:txBody><a:bodyPr/><a:lstStyle/><a:p><a:pPr algn="ctr"><a:defRPr sz="1100" b="1"><a:solidFill><a:srgbClr val="D4AF37"/></a:solidFill></a:defRPr></a:pPr><a:r><a:t>545港元</a:t></a:r></a:p></a:txBody><a:tcPr/></a:tc><a:tc><a:txBody><a:bodyPr/><a:lstStyle/><a:p><a:pPr algn="ctr"><a:defRPr sz="1100" b="1"><a:solidFill><a:srgbClr val="D4AF37"/></a:solidFill></a:defRPr></a:pPr><a:r><a:t>+24%</a:t></a:r></a:p></a:txBody><a:tcPr/></a:tc></a:tr>
<a:tr h="320000"><a:tc><a:txBody><a:bodyPr/><a:lstStyle/><a:p><a:pPr algn="ctr"><a:defRPr sz="1100" b="1"><a:solidFill><a:srgbClr val="FF6666"/></a:solidFill></a:defRPr></a:pPr><a:r><a:t>Bear</a:t></a:r></a:p></a:txBody><a:tcPr/></a:tc><a:tc><a:txBody><a:bodyPr/><a:lstStyle/><a:p><a:pPr algn="ctr"><a:defRPr sz="1100" b="1"><a:solidFill><a:srgbClr val="FF6666"/></a:solidFill></a:defRPr></a:pPr><a:r><a:t>366港元</a:t></a:r></a:p></a:txBody><a:tcPr/></a:tc><a:tc><a:txBody><a:bodyPr/><a:lstStyle/><a:p><a:pPr algn="ctr"><a:defRPr sz="1100" b="1"><a:solidFill><a:srgbClr val="FF6666"/></a:solidFill></a:defRPr></a:pPr><a:r><a:t>-17%</a:t></a:r></a:p></a:txBody><a:tcPr/></a:tc></a:tr>
<a:tr h="320000"><a:tc><a:txBody><a:bodyPr/><a:lstStyle/><a:p><a:pPr algn="l"><a:defRPr sz="1100"><a:solidFill><a:srgbClr val="FFFFFF"/></a:solidFill></a:defRPr></a:pPr><a:r><a:t>概率假设</a:t></a:r></a:p></a:txBody><a:tcPr/></a:tc><a:tc><a:txBody><a:bodyPr/><a:lstStyle/><a:p><a:pPr algn="l"><a:defRPr sz="1100"><a:solidFill><a:srgbClr val="FFFFFF"/></a:solidFill></a:defRPr></a:pPr><a:r><a:t>各1/3基准</a:t></a:r></a:p></a:txBody><a:tcPr/></a:tc><a:tc><a:txBody><a:bodyPr/><a:lstStyle/><a:p><a:pPr algn="l"><a:defRPr sz="1100"><a:solidFill><a:srgbClr val="FFFFFF"/></a:solidFill></a:defRPr></a:pPr><a:r><a:t>隐含期望值≈539</a:t></a:r></a:p></a:txBody><a:tcPr/></a:tc></a:tr>
</a:tbl></a:graphic></p:graphicFrame>
<p:sp><p:nvSpPr><p:cNvPr id="11" name="SectionBox3"/><p:cNvSpPr/><p:nvPr/></p:nvSpPr>
<p:spPr><a:xfrm><a:off x="7942320" y="1737360"/><a:ext cx="4114560" cy="457200"/></a:xfrm><a:prstGeom prst="rect"><a:avLst/></a:prstGeom><a:solidFill><a:srgbClr val="004A8A"/></a:solidFill><a:ln><a:noFill/></a:ln></p:spPr>
<p:txBody><a:bodyPr rtlCol="0" anchor="ctr"/><a:lstStyle/><a:p><a:pPr algn="ctr"/></a:p></p:txBody></p:sp>
<p:sp><p:nvSpPr><p:cNvPr id="12" name="SectionTitle3"/><p:cNvSpPr txBox="1"/><p:nvPr/></p:nvSpPr>
<p:spPr><a:xfrm><a:off x="8032320" y="1783080"/><a:ext cx="3940320" cy="365760"/></a:xfrm><a:prstGeom prst="rect"><a:avLst/></a:prstGeom><a:noFill/></p:spPr>
<p:txBody><a:bodyPr wrap="square"><a:spAutoFit/></a:bodyPr><a:lstStyle/><a:p><a:pPr algn="l"/><a:r><a:rPr sz="1400" b="1" i="0"><a:solidFill><a:srgbClr val="FFFFFF"/></a:solidFill></a:rPr><a:t>✅ 投资建议总结</a:t></a:r></a:p></p:txBody></p:sp>
<p:sp><p:nvSpPr><p:cNvPr id="13" name="AdviceBox"/><p:cNvSpPr txBox="1"/><p:nvPr/></p:nvSpPr>
<p:spPr><a:xfrm><a:off x="7942320" y="2286000"/><a:ext cx="4114560" cy="2286000"/></a:xfrm><a:prstGeom prst="rect"><a:avLst/></a:prstGeom><a:solidFill><a:srgbClr val="002040"/></a:solidFill><a:ln><a:noFill/></a:ln></p:spPr>
<p:txBody><a:bodyPr wrap="square" rtlCol="0"><a:spAutoFit/></a:bodyPr><a:lstStyle/>
<a:p><a:pPr algn="l"/><a:r><a:rPr sz="1200" b="1"><a:solidFill><a:srgbClr val="00FF00"/></a:solidFill></a:rPr><a:t>【中期】谨慎买入</a:t></a:r></a:p>
<a:p><a:pPr algn="l"/><a:r><a:rPr sz="1100"><a:solidFill><a:srgbClr val="FFFFFF"/></a:solidFill></a:rPr><a:t>• 当前PE 12倍低于历史中枢，安全边际充足</a:t></a:r></a:p>
<a:p><a:pPr algn="l"/><a:r><a:rPr sz="1100"><a:solidFill><a:srgbClr val="FFFFFF"/></a:solidFill></a:rPr><a:t>• 目标价470-520港元，Base情景+24%</a:t></a:r></a:p>
<a:p><a:pPr algn="l"/><a:r><a:rPr sz="1100"><a:solidFill><a:srgbClr val="FFFFFF"/></a:solidFill></a:rPr><a:t>• 等待催化剂确认（微信Agent/AI变现）</a:t></a:r></a:p>
<a:p><a:pPr algn="l"/><a:endParaRPr lang="en-US"/></a:p>
<a:p><a:pPr algn="l"/><a:r><a:rPr sz="1200" b="1"><a:solidFill><a:srgbClr val="00FF00"/></a:solidFill></a:rPr><a:t>【长期】强烈买入</a:t></a:r></a:p>
<a:p><a:pPr algn="l"/><a:r><a:rPr sz="1100"><a:solidFill><a:srgbClr val="FFFFFF"/></a:solidFill></a:rPr><a:t>• Agent生态一旦成型，护城河极难复制</a:t></a:r></a:p>
<a:p><a:pPr algn="l"/><a:r><a:rPr sz="1100"><a:solidFill><a:srgbClr val="FFFFFF"/></a:solidFill></a:rPr><a:t>• Bull情景706港元(+61%)，时间换空间</a:t></a:r></a:p>
<a:p><a:pPr algn="l"/><a:r><a:rPr sz="1100"><a:solidFill><a:srgbClr val="FFFFFF"/></a:solidFill></a:rPr><a:t>• 腾讯是中国AI应用端最强护城河</a:t></a:r></a:p>
</p:txBody></p:sp>
<p:sp><p:nvSpPr><p:cNvPr id="14" name="FooterBox"/><p:cNvSpPr/><p:nvPr/></p:nvSpPr>
<p:spPr><a:xfrm><a:off x="0" y="6400000"/><a:ext cx="12188952" cy="457600"/></a:xfrm><a:prstGeom prst="rect"><a:avLst/></a:prstGeom><a:solidFill><a:srgbClr val="004A8A"/></a:solidFill><a:ln><a:noFill/></a:ln></p:spPr>
<p:txBody><a:bodyPr rtlCol="0" anchor="ctr"/><a:lstStyle/><a:p><a:pPr algn="ctr"/><a:r><a:rPr sz="1000"><a:solidFill><a:srgbClr val="AAAAAA"/></a:solidFill></a:rPr><a:t>数据来源：腾讯官方财报 / 分析师估算 | C Job Day 5 | CONFIDENTIAL</a:t></a:r></a:p></p:txBody></p:sp>
</p:spTree>
</p:cSld>
<p:clrMapOvr><a:masterClrMapping/>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