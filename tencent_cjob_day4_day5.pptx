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腾讯AI战略研究 — C Job Day 1 成果汇报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4AF37"/>
                </a:solidFill>
              </a:rPr>
              <a:t>数据核实 · 观点验证 · 置信度建立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737360"/>
            <a:ext cx="5303520" cy="457200"/>
          </a:xfrm>
          <a:prstGeom prst="rect">
            <a:avLst/>
          </a:prstGeom>
          <a:solidFill>
            <a:srgbClr val="00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783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📊 Q1 2026 财务数据（已确认）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2286000"/>
          <a:ext cx="53035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645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004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04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同比</a:t>
                      </a:r>
                    </a:p>
                  </a:txBody>
                  <a:tcPr>
                    <a:solidFill>
                      <a:srgbClr val="004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收入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1,965亿元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+9%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毛利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1,113亿元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+11%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自由现金流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567亿元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+20%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资本开支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319亿元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+16%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微信MAU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14.32亿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+2%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502920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F5F5"/>
                </a:solidFill>
              </a:rPr>
              <a:t>数据来源：腾讯官方财报（2026-05-13发布）
2025全年收入：7,518亿元 | IFRS经营利润：2,807亿元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737360"/>
            <a:ext cx="5943600" cy="457200"/>
          </a:xfrm>
          <a:prstGeom prst="rect">
            <a:avLst/>
          </a:prstGeom>
          <a:solidFill>
            <a:srgbClr val="00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35040" y="178308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🔍 Day 1 核心发现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331720"/>
            <a:ext cx="4572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237743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3172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Hy3参数已官方确认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69463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295B总参 / 21B激活 / 256K上下文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2880360"/>
            <a:ext cx="4572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89320" y="292607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88036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微信MAU已核实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11810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14.32亿（官方财报 + 199it交叉验证）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3429000"/>
            <a:ext cx="4572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89320" y="3474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29000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财务数据已确认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666744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Q1 1965亿 / 毛利1113亿 / FCF 567亿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977639"/>
            <a:ext cx="45720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402335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97763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组织架构核实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215383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李录尚未完成Task 1财务核实报告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4526279"/>
            <a:ext cx="4572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89320" y="457199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526279"/>
            <a:ext cx="5212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产品方向分析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764023"/>
            <a:ext cx="5212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F5F5"/>
                </a:solidFill>
              </a:rPr>
              <a:t>乔布斯初稿延至今日22:00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760720"/>
            <a:ext cx="11640312" cy="822960"/>
          </a:xfrm>
          <a:prstGeom prst="rect">
            <a:avLst/>
          </a:prstGeom>
          <a:solidFill>
            <a:srgbClr val="151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8521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AF37"/>
                </a:solidFill>
              </a:rPr>
              <a:t>Agent任务状态： 李录(财务核实) ⚠️进行中 | 乔布斯(Hy3+产品预测) 🔄进行中 | Hermes姐姐(微信MAU) ✅完成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腾讯AI战略研究 — C Job Day 2 战略洞察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4AF37"/>
                </a:solidFill>
              </a:rPr>
              <a:t>技术框架 · 产品路线 · 竞争格局 · 投资判断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91640"/>
            <a:ext cx="5303520" cy="411480"/>
          </a:xfrm>
          <a:prstGeom prst="rect">
            <a:avLst/>
          </a:prstGeom>
          <a:solidFill>
            <a:srgbClr val="00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71907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🧠 姚顺雨核心研究框架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194560"/>
            <a:ext cx="73152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ReAct = 推理 + 行动协同（核心公式）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532888"/>
            <a:ext cx="73152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3288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ToT = 多路径推理框架（同时搜索思考和行动）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871216"/>
            <a:ext cx="73152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7121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τ-bench = 工具 + 用户 + 规则三位一体验证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209544"/>
            <a:ext cx="73152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095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核心瓶颈：LLM不擅长自我评估（self-evaluation）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547872"/>
            <a:ext cx="73152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54787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落地方向：Digital Automation（最大机会）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886200"/>
            <a:ext cx="73152" cy="27432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86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</a:rPr>
              <a:t>微信Agent难点：谁对执行结果负责？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1691640"/>
            <a:ext cx="6035040" cy="411480"/>
          </a:xfrm>
          <a:prstGeom prst="rect">
            <a:avLst/>
          </a:prstGeom>
          <a:solidFill>
            <a:srgbClr val="00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1719072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🔗 Hy3技术参数 × 产品接入矩阵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2194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</a:rPr>
              <a:t>Hy3（混元大模型）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943600" y="2487168"/>
          <a:ext cx="2743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004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004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总参数量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295B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激活参数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21B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上下文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256K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定位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腾讯基础模型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8869680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4AF37"/>
                </a:solidFill>
              </a:rPr>
              <a:t>产品接入矩阵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869680" y="2487168"/>
          <a:ext cx="29260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产品</a:t>
                      </a:r>
                    </a:p>
                  </a:txBody>
                  <a:tcPr>
                    <a:solidFill>
                      <a:srgbClr val="004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定位</a:t>
                      </a:r>
                    </a:p>
                  </a:txBody>
                  <a:tcPr>
                    <a:solidFill>
                      <a:srgbClr val="004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元宝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C端AI助手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知识管理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CodeBuddy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代码辅助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WorkBuddy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企业协作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腾讯文档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FFFFFF"/>
                          </a:solidFill>
                        </a:defRPr>
                      </a:pPr>
                      <a:r>
                        <a:t>办公集成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274320" y="4709160"/>
            <a:ext cx="11640312" cy="411480"/>
          </a:xfrm>
          <a:prstGeom prst="rect">
            <a:avLst/>
          </a:prstGeom>
          <a:solidFill>
            <a:srgbClr val="1F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736592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AF37"/>
                </a:solidFill>
              </a:rPr>
              <a:t>💡 Buffett核心判断：腾讯"慢"是理性选择，不是能力不足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274320" y="5166360"/>
          <a:ext cx="116128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663440"/>
                <a:gridCol w="466344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004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腾讯</a:t>
                      </a:r>
                    </a:p>
                  </a:txBody>
                  <a:tcPr>
                    <a:solidFill>
                      <a:srgbClr val="004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004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AI策略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渐进验证，真实场景优先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All-in各种热点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速度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快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低（不成熟方案不上线）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高（追逐热点踏空风险）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护城河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验证体系一旦建立极难复制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热点分散无护城河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Agent爆发概率(2027)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60-70%（中国头部）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4A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腾讯AI战略研究 — C Job Day 4 分析师观点 &amp; 竞争格局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27432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4AF37"/>
                </a:solidFill>
              </a:rPr>
              <a:t>分析师观点汇总 · 竞争格局对比 · 估值支撑</a:t>
            </a:r>
          </a:p>
        </p:txBody>
      </p:sp>
      <p:sp>
        <p:nvSpPr>
          <p:cNvPr id="5" name="SectionBox1"/>
          <p:cNvSpPr/>
          <p:nvPr/>
        </p:nvSpPr>
        <p:spPr>
          <a:xfrm>
            <a:off x="274320" y="1737360"/>
            <a:ext cx="5303520" cy="457200"/>
          </a:xfrm>
          <a:prstGeom prst="rect">
            <a:avLst/>
          </a:prstGeom>
          <a:solidFill>
            <a:srgbClr val="004A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ectionTitle1"/>
          <p:cNvSpPr txBox="1"/>
          <p:nvPr/>
        </p:nvSpPr>
        <p:spPr>
          <a:xfrm>
            <a:off x="365760" y="17830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📋 分析师观点汇总</a:t>
            </a:r>
          </a:p>
        </p:txBody>
      </p:sp>
      <p:graphicFrame>
        <p:nvGraphicFramePr>
          <p:cNvPr id="7" name="AnalystTable"/>
          <p:cNvGraphicFramePr>
            <a:graphicFrameLocks noGrp="1"/>
          </p:cNvGraphicFramePr>
          <p:nvPr/>
        </p:nvGraphicFramePr>
        <p:xfrm>
          <a:off x="274320" y="2286000"/>
          <a:ext cx="53035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3503520"/>
              </a:tblGrid>
              <a:tr h="32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004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004A8A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估值依据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439港元 / PE12倍，低于历史中枢18-20倍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目标价区间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HKD 470-520（潜在涨幅 +8%~+18%）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情景分析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Bull 706港元(+61%) / Base 545港元(+24%) / Bear 366港元(-17%)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投资建议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D4AF37"/>
                          </a:solidFill>
                        </a:defRPr>
                      </a:pPr>
                      <a:r>
                        <a:t>中期谨慎买入，长期强烈买入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催化剂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微信Agent爆发 / Hy3落地规模 / AI变现验证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ectionBox2"/>
          <p:cNvSpPr/>
          <p:nvPr/>
        </p:nvSpPr>
        <p:spPr>
          <a:xfrm>
            <a:off x="5944560" y="1737360"/>
            <a:ext cx="5891040" cy="457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ectionTitle2"/>
          <p:cNvSpPr txBox="1"/>
          <p:nvPr/>
        </p:nvSpPr>
        <p:spPr>
          <a:xfrm>
            <a:off x="6034560" y="1783080"/>
            <a:ext cx="570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⚔️ 竞争格局对比</a:t>
            </a:r>
          </a:p>
        </p:txBody>
      </p:sp>
      <p:graphicFrame>
        <p:nvGraphicFramePr>
          <p:cNvPr id="10" name="CompTable"/>
          <p:cNvGraphicFramePr>
            <a:graphicFrameLocks noGrp="1"/>
          </p:cNvGraphicFramePr>
          <p:nvPr/>
        </p:nvGraphicFramePr>
        <p:xfrm>
          <a:off x="5944560" y="2286000"/>
          <a:ext cx="5891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0000"/>
                <a:gridCol w="1500000"/>
                <a:gridCol w="2891040"/>
              </a:tblGrid>
              <a:tr h="32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腾讯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AI策略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渐进验证，真实场景优先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All-in 各种热点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速度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0FF00"/>
                          </a:solidFill>
                        </a:defRPr>
                      </a:pPr>
                      <a:r>
                        <a:t>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6666"/>
                          </a:solidFill>
                        </a:defRPr>
                      </a:pPr>
                      <a:r>
                        <a:t>快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风险偏好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低（不成熟方案不上线）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高（追逐热点踏空风险）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护城河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0FF00"/>
                          </a:solidFill>
                        </a:defRPr>
                      </a:pPr>
                      <a:r>
                        <a:t>验证体系一旦建立极难复制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6666"/>
                          </a:solidFill>
                        </a:defRPr>
                      </a:pPr>
                      <a:r>
                        <a:t>热点分散无护城河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Agent爆发概率(2027)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FF00"/>
                          </a:solidFill>
                        </a:defRPr>
                      </a:pPr>
                      <a:r>
                        <a:t>60-70%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AAAAAA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FooterBox"/>
          <p:cNvSpPr/>
          <p:nvPr/>
        </p:nvSpPr>
        <p:spPr>
          <a:xfrm>
            <a:off x="0" y="6400000"/>
            <a:ext cx="12188952" cy="457600"/>
          </a:xfrm>
          <a:prstGeom prst="rect">
            <a:avLst/>
          </a:prstGeom>
          <a:solidFill>
            <a:srgbClr val="004A8A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>
                <a:solidFill>
                  <a:srgbClr val="AAAAAA"/>
                </a:solidFill>
              </a:rPr>
              <a:t>数据来源：腾讯官方财报 / 分析师估算 | C Job Day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4A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274320" y="91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腾讯AI战略研究 — C Job Day 5 投资风险 &amp; 建议总结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274320" y="1188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D4AF37"/>
                </a:solidFill>
              </a:rPr>
              <a:t>风险评估 · 情景分析 · 投资建议总结</a:t>
            </a:r>
          </a:p>
        </p:txBody>
      </p:sp>
      <p:sp>
        <p:nvSpPr>
          <p:cNvPr id="5" name="SectionBox1"/>
          <p:cNvSpPr/>
          <p:nvPr/>
        </p:nvSpPr>
        <p:spPr>
          <a:xfrm>
            <a:off x="274320" y="1737360"/>
            <a:ext cx="3657600" cy="457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ectionTitle1"/>
          <p:cNvSpPr txBox="1"/>
          <p:nvPr/>
        </p:nvSpPr>
        <p:spPr>
          <a:xfrm>
            <a:off x="365760" y="1783080"/>
            <a:ext cx="348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⚠️ 投资风险</a:t>
            </a:r>
          </a:p>
        </p:txBody>
      </p:sp>
      <p:graphicFrame>
        <p:nvGraphicFramePr>
          <p:cNvPr id="7" name="RiskTable"/>
          <p:cNvGraphicFramePr>
            <a:graphicFrameLocks noGrp="1"/>
          </p:cNvGraphicFramePr>
          <p:nvPr/>
        </p:nvGraphicFramePr>
        <p:xfrm>
          <a:off x="274320" y="2286000"/>
          <a:ext cx="3657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/>
                <a:gridCol w="2057600"/>
              </a:tblGrid>
              <a:tr h="32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风险类型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描述</a:t>
                      </a:r>
                    </a:p>
                  </a:txBody>
                  <a:tcPr>
                    <a:solidFill>
                      <a:srgbClr val="8B0000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监管风险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AI监管政策收紧，数据合规要求提升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竞争风险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字节/阿里AI产品快速迭代，抢占用户时间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技术风险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Hy3落地效果不及预期，Agent用户粘性低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变现风险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AI付费模式在中国市场接受度待验证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宏观风险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中国经济复苏放缓，消费互联网广告收入承压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SectionBox2"/>
          <p:cNvSpPr/>
          <p:nvPr/>
        </p:nvSpPr>
        <p:spPr>
          <a:xfrm>
            <a:off x="4114560" y="1737360"/>
            <a:ext cx="3657600" cy="457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SectionTitle2"/>
          <p:cNvSpPr txBox="1"/>
          <p:nvPr/>
        </p:nvSpPr>
        <p:spPr>
          <a:xfrm>
            <a:off x="4204560" y="1783080"/>
            <a:ext cx="348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📊 情景分析总结</a:t>
            </a:r>
          </a:p>
        </p:txBody>
      </p:sp>
      <p:graphicFrame>
        <p:nvGraphicFramePr>
          <p:cNvPr id="10" name="ScenarioTable"/>
          <p:cNvGraphicFramePr>
            <a:graphicFrameLocks noGrp="1"/>
          </p:cNvGraphicFramePr>
          <p:nvPr/>
        </p:nvGraphicFramePr>
        <p:xfrm>
          <a:off x="4114560" y="2286000"/>
          <a:ext cx="3657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000"/>
                <a:gridCol w="1300000"/>
                <a:gridCol w="1357600"/>
              </a:tblGrid>
              <a:tr h="32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情景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</a:defRPr>
                      </a:pPr>
                      <a:r>
                        <a:t>目标价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</a:defRPr>
                      </a:pPr>
                      <a:r>
                        <a:t>潜在涨幅</a:t>
                      </a:r>
                    </a:p>
                  </a:txBody>
                  <a:tcPr>
                    <a:solidFill>
                      <a:srgbClr val="D4AF37"/>
                    </a:solidFill>
                  </a:tcPr>
                </a:tc>
              </a:tr>
              <a:tr h="32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FF00"/>
                          </a:solidFill>
                        </a:defRPr>
                      </a:pPr>
                      <a:r>
                        <a:t>Bull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FF00"/>
                          </a:solidFill>
                        </a:defRPr>
                      </a:pPr>
                      <a:r>
                        <a:t>706港元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FF00"/>
                          </a:solidFill>
                        </a:defRPr>
                      </a:pPr>
                      <a:r>
                        <a:t>+61%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4AF37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4AF37"/>
                          </a:solidFill>
                        </a:defRPr>
                      </a:pPr>
                      <a:r>
                        <a:t>545港元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4AF37"/>
                          </a:solidFill>
                        </a:defRPr>
                      </a:pPr>
                      <a:r>
                        <a:t>+24%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666"/>
                          </a:solidFill>
                        </a:defRPr>
                      </a:pPr>
                      <a:r>
                        <a:t>Bear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666"/>
                          </a:solidFill>
                        </a:defRPr>
                      </a:pPr>
                      <a:r>
                        <a:t>366港元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6666"/>
                          </a:solidFill>
                        </a:defRPr>
                      </a:pPr>
                      <a:r>
                        <a:t>-17%</a:t>
                      </a:r>
                    </a:p>
                  </a:txBody>
                  <a:tcPr/>
                </a:tc>
              </a:tr>
              <a:tr h="32000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概率假设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各1/3基准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隐含期望值≈539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SectionBox3"/>
          <p:cNvSpPr/>
          <p:nvPr/>
        </p:nvSpPr>
        <p:spPr>
          <a:xfrm>
            <a:off x="7942320" y="1737360"/>
            <a:ext cx="4114560" cy="457200"/>
          </a:xfrm>
          <a:prstGeom prst="rect">
            <a:avLst/>
          </a:prstGeom>
          <a:solidFill>
            <a:srgbClr val="004A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ectionTitle3"/>
          <p:cNvSpPr txBox="1"/>
          <p:nvPr/>
        </p:nvSpPr>
        <p:spPr>
          <a:xfrm>
            <a:off x="8032320" y="1783080"/>
            <a:ext cx="394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投资建议总结</a:t>
            </a:r>
          </a:p>
        </p:txBody>
      </p:sp>
      <p:sp>
        <p:nvSpPr>
          <p:cNvPr id="13" name="AdviceBox"/>
          <p:cNvSpPr txBox="1"/>
          <p:nvPr/>
        </p:nvSpPr>
        <p:spPr>
          <a:xfrm>
            <a:off x="7942320" y="2286000"/>
            <a:ext cx="4114560" cy="2286000"/>
          </a:xfrm>
          <a:prstGeom prst="rect">
            <a:avLst/>
          </a:prstGeom>
          <a:solidFill>
            <a:srgbClr val="002040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sz="1200" b="1">
                <a:solidFill>
                  <a:srgbClr val="00FF00"/>
                </a:solidFill>
              </a:rPr>
              <a:t>【中期】谨慎买入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当前PE 12倍低于历史中枢，安全边际充足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目标价470-520港元，Base情景+24%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等待催化剂确认（微信Agent/AI变现）</a:t>
            </a:r>
          </a:p>
          <a:p>
            <a:pPr algn="l"/>
            <a:endParaRPr lang="en-US"/>
          </a:p>
          <a:p>
            <a:pPr algn="l"/>
            <a:r>
              <a:rPr sz="1200" b="1">
                <a:solidFill>
                  <a:srgbClr val="00FF00"/>
                </a:solidFill>
              </a:rPr>
              <a:t>【长期】强烈买入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Agent生态一旦成型，护城河极难复制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Bull情景706港元(+61%)，时间换空间</a:t>
            </a:r>
          </a:p>
          <a:p>
            <a:pPr algn="l"/>
            <a:r>
              <a:rPr sz="1100">
                <a:solidFill>
                  <a:srgbClr val="FFFFFF"/>
                </a:solidFill>
              </a:rPr>
              <a:t>• 腾讯是中国AI应用端最强护城河</a:t>
            </a:r>
          </a:p>
        </p:txBody>
      </p:sp>
      <p:sp>
        <p:nvSpPr>
          <p:cNvPr id="14" name="FooterBox"/>
          <p:cNvSpPr/>
          <p:nvPr/>
        </p:nvSpPr>
        <p:spPr>
          <a:xfrm>
            <a:off x="0" y="6400000"/>
            <a:ext cx="12188952" cy="457600"/>
          </a:xfrm>
          <a:prstGeom prst="rect">
            <a:avLst/>
          </a:prstGeom>
          <a:solidFill>
            <a:srgbClr val="004A8A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000">
                <a:solidFill>
                  <a:srgbClr val="AAAAAA"/>
                </a:solidFill>
              </a:rPr>
              <a:t>数据来源：腾讯官方财报 / 分析师估算 | C Job Day 5 |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